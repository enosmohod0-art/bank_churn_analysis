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6" r:id="rId4"/>
    <p:sldId id="259" r:id="rId5"/>
    <p:sldId id="267" r:id="rId6"/>
    <p:sldId id="268" r:id="rId7"/>
    <p:sldId id="269" r:id="rId8"/>
    <p:sldId id="270" r:id="rId9"/>
    <p:sldId id="271" r:id="rId10"/>
    <p:sldId id="272" r:id="rId11"/>
    <p:sldId id="264" r:id="rId12"/>
    <p:sldId id="265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9" autoAdjust="0"/>
    <p:restoredTop sz="94660"/>
  </p:normalViewPr>
  <p:slideViewPr>
    <p:cSldViewPr snapToGrid="0">
      <p:cViewPr varScale="1">
        <p:scale>
          <a:sx n="68" d="100"/>
          <a:sy n="68" d="100"/>
        </p:scale>
        <p:origin x="6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1B73ED-5A7F-49D9-8DE0-65F5ABD04C5E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66326A-A01E-48D9-9C79-95BB8A3B18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05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7223bd2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7223bd2a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4620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caee8303e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caee8303e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7998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85367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7223bd2a0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7223bd2a0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0906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7223bd2a0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7223bd2a0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1312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7223bd2a0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7223bd2a0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7965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7223bd2a0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7223bd2a0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3854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7223bd2a0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7223bd2a0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3645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7223bd2a0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7223bd2a0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1233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b7223bd2a0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b7223bd2a0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14718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1403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b7223bd2a0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b7223bd2a0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410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1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49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343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011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29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250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48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328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098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621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148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8F6550-DC47-412E-A6BD-C043C18783D6}" type="datetimeFigureOut">
              <a:rPr lang="en-IN" smtClean="0"/>
              <a:t>30-01-2026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7D71CF-7B1B-462D-96FD-DE7121FB0F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9792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"/>
          <p:cNvSpPr txBox="1"/>
          <p:nvPr/>
        </p:nvSpPr>
        <p:spPr>
          <a:xfrm>
            <a:off x="204200" y="2189608"/>
            <a:ext cx="11360800" cy="18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chemeClr val="accent2"/>
                </a:solidFill>
                <a:latin typeface="Arial Black" panose="020B0A04020102020204" pitchFamily="34" charset="0"/>
              </a:rPr>
              <a:t>Bank Customer Churn Analysis using Python</a:t>
            </a:r>
            <a:endParaRPr sz="5333" b="1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334" name="Google Shape;334;p13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>
              <a:buClr>
                <a:srgbClr val="000000"/>
              </a:buClr>
              <a:buSzPts val="1200"/>
            </a:pPr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-1340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D63B57-2B6C-4AEF-AA4E-F393A4E8B2DF}"/>
              </a:ext>
            </a:extLst>
          </p:cNvPr>
          <p:cNvSpPr txBox="1"/>
          <p:nvPr/>
        </p:nvSpPr>
        <p:spPr>
          <a:xfrm>
            <a:off x="7524165" y="5486850"/>
            <a:ext cx="4869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Prepared by: Enos Mohod</a:t>
            </a:r>
            <a:br>
              <a:rPr lang="en-US" sz="2400" b="1" dirty="0">
                <a:solidFill>
                  <a:schemeClr val="accent2"/>
                </a:solidFill>
              </a:rPr>
            </a:br>
            <a:r>
              <a:rPr lang="en-US" sz="2400" b="1" dirty="0">
                <a:solidFill>
                  <a:schemeClr val="accent2"/>
                </a:solidFill>
              </a:rPr>
              <a:t>Domain: Python for Data Analytics</a:t>
            </a:r>
            <a:endParaRPr lang="en-IN" sz="2400" b="1" dirty="0">
              <a:solidFill>
                <a:schemeClr val="accent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0596" y="172324"/>
            <a:ext cx="848809" cy="73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729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4"/>
          <p:cNvSpPr txBox="1">
            <a:spLocks noGrp="1"/>
          </p:cNvSpPr>
          <p:nvPr>
            <p:ph type="ctrTitle"/>
          </p:nvPr>
        </p:nvSpPr>
        <p:spPr>
          <a:xfrm>
            <a:off x="0" y="121920"/>
            <a:ext cx="12192000" cy="947680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Problem Statement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14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45" name="Google Shape;345;p14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61BF38-BD51-43FB-9D78-79DF4FAA888E}"/>
              </a:ext>
            </a:extLst>
          </p:cNvPr>
          <p:cNvSpPr/>
          <p:nvPr/>
        </p:nvSpPr>
        <p:spPr>
          <a:xfrm>
            <a:off x="217600" y="1354999"/>
            <a:ext cx="11603608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dirty="0"/>
              <a:t>Customer churn is a critical challenge for banks, as losing existing customers directly impacts revenue and long-term growth.</a:t>
            </a:r>
            <a:br>
              <a:rPr lang="en-US" sz="2400" dirty="0"/>
            </a:br>
            <a:r>
              <a:rPr lang="en-US" sz="2400" dirty="0"/>
              <a:t>Understanding </a:t>
            </a:r>
            <a:r>
              <a:rPr lang="en-US" sz="2400" b="1" dirty="0">
                <a:solidFill>
                  <a:schemeClr val="accent2"/>
                </a:solidFill>
              </a:rPr>
              <a:t>why customers leave the bank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is essential for designing effective retention strategies.</a:t>
            </a:r>
            <a:endParaRPr lang="en-US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EFCFFB-5912-4E05-8854-02C76D5A0AB1}"/>
              </a:ext>
            </a:extLst>
          </p:cNvPr>
          <p:cNvSpPr/>
          <p:nvPr/>
        </p:nvSpPr>
        <p:spPr>
          <a:xfrm>
            <a:off x="217600" y="3073480"/>
            <a:ext cx="6919971" cy="173739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dirty="0"/>
              <a:t>The bank wants to analyze customer data to: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Identify </a:t>
            </a:r>
            <a:r>
              <a:rPr lang="en-US" sz="2000" b="1" dirty="0">
                <a:solidFill>
                  <a:schemeClr val="accent2"/>
                </a:solidFill>
              </a:rPr>
              <a:t>churn patterns</a:t>
            </a:r>
            <a:r>
              <a:rPr lang="en-US" sz="2000" dirty="0">
                <a:solidFill>
                  <a:schemeClr val="accent2"/>
                </a:solidFill>
              </a:rPr>
              <a:t> </a:t>
            </a:r>
            <a:r>
              <a:rPr lang="en-US" sz="2000" dirty="0"/>
              <a:t>among customers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Understand the </a:t>
            </a:r>
            <a:r>
              <a:rPr lang="en-US" sz="2000" b="1" dirty="0">
                <a:solidFill>
                  <a:schemeClr val="accent2"/>
                </a:solidFill>
              </a:rPr>
              <a:t>key factors influencing churn</a:t>
            </a:r>
            <a:endParaRPr lang="en-US" sz="2000" dirty="0">
              <a:solidFill>
                <a:schemeClr val="accent2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Compare churn behavior across different </a:t>
            </a:r>
            <a:r>
              <a:rPr lang="en-US" sz="2000" b="1" dirty="0">
                <a:solidFill>
                  <a:schemeClr val="accent2"/>
                </a:solidFill>
              </a:rPr>
              <a:t>customer segments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CC27EC-654B-414F-BCC4-3D9EF63083D4}"/>
              </a:ext>
            </a:extLst>
          </p:cNvPr>
          <p:cNvSpPr/>
          <p:nvPr/>
        </p:nvSpPr>
        <p:spPr>
          <a:xfrm>
            <a:off x="217600" y="5190341"/>
            <a:ext cx="10886329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dirty="0"/>
              <a:t>This analysis aims to provide </a:t>
            </a:r>
            <a:r>
              <a:rPr lang="en-US" sz="2400" b="1" dirty="0">
                <a:solidFill>
                  <a:schemeClr val="accent2"/>
                </a:solidFill>
              </a:rPr>
              <a:t>data-driven insights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that can help the bank </a:t>
            </a:r>
            <a:r>
              <a:rPr lang="en-US" sz="2400" b="1" dirty="0">
                <a:solidFill>
                  <a:schemeClr val="accent2"/>
                </a:solidFill>
              </a:rPr>
              <a:t>reduce customer churn</a:t>
            </a:r>
            <a:r>
              <a:rPr lang="en-US" sz="2400" dirty="0"/>
              <a:t> and </a:t>
            </a:r>
            <a:r>
              <a:rPr lang="en-US" sz="2400" b="1" dirty="0">
                <a:solidFill>
                  <a:schemeClr val="accent2"/>
                </a:solidFill>
              </a:rPr>
              <a:t>improve customer retention</a:t>
            </a:r>
            <a:r>
              <a:rPr lang="en-US" sz="2400" dirty="0">
                <a:solidFill>
                  <a:schemeClr val="accent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05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About the Data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1DD317-263F-4595-BBB7-87BA52BE7CA0}"/>
              </a:ext>
            </a:extLst>
          </p:cNvPr>
          <p:cNvSpPr/>
          <p:nvPr/>
        </p:nvSpPr>
        <p:spPr>
          <a:xfrm>
            <a:off x="119125" y="1116980"/>
            <a:ext cx="10431644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The dataset contains customer-level information from a retail bank and is used to analyze customer churn behavior.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B94B95-5F25-498B-878C-C80213385FA6}"/>
              </a:ext>
            </a:extLst>
          </p:cNvPr>
          <p:cNvSpPr/>
          <p:nvPr/>
        </p:nvSpPr>
        <p:spPr>
          <a:xfrm>
            <a:off x="217600" y="2026159"/>
            <a:ext cx="4969758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Key details of the dataset:</a:t>
            </a:r>
            <a:endParaRPr lang="en-US" sz="2000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Total records: </a:t>
            </a:r>
            <a:r>
              <a:rPr lang="en-US" sz="2000" b="1" dirty="0">
                <a:solidFill>
                  <a:schemeClr val="accent2"/>
                </a:solidFill>
              </a:rPr>
              <a:t>10,000 customers</a:t>
            </a:r>
            <a:endParaRPr lang="en-US" sz="2000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row represents </a:t>
            </a:r>
            <a:r>
              <a:rPr lang="en-US" sz="2000" b="1" dirty="0">
                <a:solidFill>
                  <a:schemeClr val="accent2"/>
                </a:solidFill>
              </a:rPr>
              <a:t>one unique customer</a:t>
            </a:r>
            <a:endParaRPr lang="en-US" sz="2000" dirty="0">
              <a:solidFill>
                <a:schemeClr val="accent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Target variable: </a:t>
            </a:r>
            <a:r>
              <a:rPr lang="en-US" sz="2000" b="1" dirty="0">
                <a:solidFill>
                  <a:schemeClr val="accent2"/>
                </a:solidFill>
              </a:rPr>
              <a:t>Exited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FD81C6-3D32-4D02-85E9-CF30C8E7B905}"/>
              </a:ext>
            </a:extLst>
          </p:cNvPr>
          <p:cNvSpPr/>
          <p:nvPr/>
        </p:nvSpPr>
        <p:spPr>
          <a:xfrm>
            <a:off x="435200" y="3327857"/>
            <a:ext cx="323389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Customer retained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Customer churned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B715EA-A647-495B-9345-E24DC4576DBC}"/>
              </a:ext>
            </a:extLst>
          </p:cNvPr>
          <p:cNvSpPr/>
          <p:nvPr/>
        </p:nvSpPr>
        <p:spPr>
          <a:xfrm>
            <a:off x="217600" y="4202609"/>
            <a:ext cx="1310019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b="1" dirty="0"/>
              <a:t>Key features used in analysis: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</a:rPr>
              <a:t>Demographic details</a:t>
            </a:r>
            <a:r>
              <a:rPr lang="en-US" b="1" dirty="0"/>
              <a:t>:</a:t>
            </a:r>
            <a:r>
              <a:rPr lang="en-US" dirty="0"/>
              <a:t> Gender, Age, Geography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</a:rPr>
              <a:t>Account details</a:t>
            </a:r>
            <a:r>
              <a:rPr lang="en-US" b="1" dirty="0"/>
              <a:t>:</a:t>
            </a:r>
            <a:r>
              <a:rPr lang="en-US" dirty="0"/>
              <a:t> Balance, Number of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</a:rPr>
              <a:t>Customer behavior</a:t>
            </a:r>
            <a:r>
              <a:rPr lang="en-US" b="1" dirty="0"/>
              <a:t>:</a:t>
            </a:r>
            <a:r>
              <a:rPr lang="en-US" dirty="0"/>
              <a:t> Active Member status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</a:rPr>
              <a:t>Churn indicator</a:t>
            </a:r>
            <a:r>
              <a:rPr lang="en-US" b="1" dirty="0"/>
              <a:t>:</a:t>
            </a:r>
            <a:r>
              <a:rPr lang="en-US" dirty="0"/>
              <a:t> Exited</a:t>
            </a:r>
          </a:p>
          <a:p>
            <a:r>
              <a:rPr lang="en-US" dirty="0"/>
              <a:t>This dataset enables analysis of </a:t>
            </a:r>
            <a:r>
              <a:rPr lang="en-US" b="1" dirty="0">
                <a:solidFill>
                  <a:schemeClr val="accent2"/>
                </a:solidFill>
              </a:rPr>
              <a:t>how customer demographics and behavior impact churn</a:t>
            </a:r>
            <a:r>
              <a:rPr lang="en-US" dirty="0">
                <a:solidFill>
                  <a:schemeClr val="accent2"/>
                </a:solidFill>
              </a:rPr>
              <a:t>.</a:t>
            </a:r>
          </a:p>
          <a:p>
            <a:pPr algn="ctr"/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8855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>
            <a:spLocks noGrp="1"/>
          </p:cNvSpPr>
          <p:nvPr>
            <p:ph type="ctrTitle"/>
          </p:nvPr>
        </p:nvSpPr>
        <p:spPr>
          <a:xfrm>
            <a:off x="0" y="79389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Solution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15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15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3361D-E945-4254-9E19-7E2FDA1349E9}"/>
              </a:ext>
            </a:extLst>
          </p:cNvPr>
          <p:cNvSpPr/>
          <p:nvPr/>
        </p:nvSpPr>
        <p:spPr>
          <a:xfrm>
            <a:off x="217600" y="1253666"/>
            <a:ext cx="600032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/>
              <a:t>Insight 1: Overall Customer Churn</a:t>
            </a:r>
            <a:endParaRPr lang="en-US" sz="32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671EB-1E76-4FB7-B1E7-BF48508CFD15}"/>
              </a:ext>
            </a:extLst>
          </p:cNvPr>
          <p:cNvSpPr/>
          <p:nvPr/>
        </p:nvSpPr>
        <p:spPr>
          <a:xfrm>
            <a:off x="435200" y="1859340"/>
            <a:ext cx="600032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Key Findings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 of </a:t>
            </a:r>
            <a:r>
              <a:rPr lang="en-US" b="1" dirty="0"/>
              <a:t>10,000 customers</a:t>
            </a:r>
            <a:r>
              <a:rPr lang="en-US" dirty="0"/>
              <a:t>, </a:t>
            </a:r>
            <a:r>
              <a:rPr lang="en-US" b="1" dirty="0"/>
              <a:t>2,037 customers (20.37%)</a:t>
            </a:r>
            <a:r>
              <a:rPr lang="en-US" dirty="0"/>
              <a:t> have exited the bank.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7,963 customers (79.63%)</a:t>
            </a:r>
            <a:r>
              <a:rPr lang="en-US" dirty="0"/>
              <a:t> are currently retained.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2D341-B1DB-4478-9CBD-BEE422569C41}"/>
              </a:ext>
            </a:extLst>
          </p:cNvPr>
          <p:cNvSpPr/>
          <p:nvPr/>
        </p:nvSpPr>
        <p:spPr>
          <a:xfrm>
            <a:off x="435200" y="3719503"/>
            <a:ext cx="5782720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Business Interpretation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Approximately </a:t>
            </a:r>
            <a:r>
              <a:rPr lang="en-US" b="1" dirty="0"/>
              <a:t>1 out of every 5 customers</a:t>
            </a:r>
            <a:r>
              <a:rPr lang="en-US" dirty="0"/>
              <a:t> has churned.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Although the majority of customers are retained, a </a:t>
            </a:r>
            <a:r>
              <a:rPr lang="en-US" b="1" dirty="0"/>
              <a:t>20% churn rate is significant</a:t>
            </a:r>
            <a:r>
              <a:rPr lang="en-US" dirty="0"/>
              <a:t> for a banking business.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highlights the need to </a:t>
            </a:r>
            <a:r>
              <a:rPr lang="en-US" b="1" dirty="0"/>
              <a:t>analyze churn drivers across customer segments</a:t>
            </a:r>
            <a:r>
              <a:rPr lang="en-US" dirty="0"/>
              <a:t> to reduce future attrition.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E03196-549C-4BD3-B867-A9ADAA03D6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890" y="1454285"/>
            <a:ext cx="4301613" cy="453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12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>
            <a:spLocks noGrp="1"/>
          </p:cNvSpPr>
          <p:nvPr>
            <p:ph type="ctrTitle"/>
          </p:nvPr>
        </p:nvSpPr>
        <p:spPr>
          <a:xfrm>
            <a:off x="0" y="79389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Solution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15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15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3361D-E945-4254-9E19-7E2FDA1349E9}"/>
              </a:ext>
            </a:extLst>
          </p:cNvPr>
          <p:cNvSpPr/>
          <p:nvPr/>
        </p:nvSpPr>
        <p:spPr>
          <a:xfrm>
            <a:off x="217600" y="1248833"/>
            <a:ext cx="647862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/>
              <a:t>Insight 2: Customer Churn by Gender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671EB-1E76-4FB7-B1E7-BF48508CFD15}"/>
              </a:ext>
            </a:extLst>
          </p:cNvPr>
          <p:cNvSpPr/>
          <p:nvPr/>
        </p:nvSpPr>
        <p:spPr>
          <a:xfrm>
            <a:off x="435200" y="1859340"/>
            <a:ext cx="6809662" cy="184665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Key Findings </a:t>
            </a:r>
          </a:p>
          <a:p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Female customers show a churn rate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~25.07%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Male customers show a lower churn rate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~16.46%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Female customers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significantly more likely to churn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compared to male customers.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2D341-B1DB-4478-9CBD-BEE422569C41}"/>
              </a:ext>
            </a:extLst>
          </p:cNvPr>
          <p:cNvSpPr/>
          <p:nvPr/>
        </p:nvSpPr>
        <p:spPr>
          <a:xfrm>
            <a:off x="435199" y="3719503"/>
            <a:ext cx="6663692" cy="267765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Business Interpretation</a:t>
            </a:r>
          </a:p>
          <a:p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higher churn rate among female customers indicates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potential gap in customer experience or product alignment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this segment.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suggests that current banking services or engagement strategies may not be equally effective across genders.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Addressing gender-specific needs can help the bank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 churn and improve long-term customer retention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DBB763-14B0-4D9B-A200-FB73BA1A20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4862" y="1248833"/>
            <a:ext cx="4707138" cy="515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63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>
            <a:spLocks noGrp="1"/>
          </p:cNvSpPr>
          <p:nvPr>
            <p:ph type="ctrTitle"/>
          </p:nvPr>
        </p:nvSpPr>
        <p:spPr>
          <a:xfrm>
            <a:off x="0" y="79389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Solution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Fireblaze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Technologies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Pvt.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Ltd.</a:t>
            </a: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15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15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3361D-E945-4254-9E19-7E2FDA1349E9}"/>
              </a:ext>
            </a:extLst>
          </p:cNvPr>
          <p:cNvSpPr/>
          <p:nvPr/>
        </p:nvSpPr>
        <p:spPr>
          <a:xfrm>
            <a:off x="217600" y="1248833"/>
            <a:ext cx="702726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/>
              <a:t>Insight 3: Customer Churn by Geography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671EB-1E76-4FB7-B1E7-BF48508CFD15}"/>
              </a:ext>
            </a:extLst>
          </p:cNvPr>
          <p:cNvSpPr/>
          <p:nvPr/>
        </p:nvSpPr>
        <p:spPr>
          <a:xfrm>
            <a:off x="435201" y="1859340"/>
            <a:ext cx="5698315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Key Findings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Germany</a:t>
            </a:r>
            <a:r>
              <a:rPr lang="en-US" dirty="0"/>
              <a:t> has the highest churn rate at </a:t>
            </a:r>
            <a:r>
              <a:rPr lang="en-US" b="1" dirty="0"/>
              <a:t>~32.44%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France</a:t>
            </a:r>
            <a:r>
              <a:rPr lang="en-US" dirty="0"/>
              <a:t> shows a churn rate of </a:t>
            </a:r>
            <a:r>
              <a:rPr lang="en-US" b="1" dirty="0"/>
              <a:t>~16.15%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Spain</a:t>
            </a:r>
            <a:r>
              <a:rPr lang="en-US" dirty="0"/>
              <a:t> has a similar churn rate of </a:t>
            </a:r>
            <a:r>
              <a:rPr lang="en-US" b="1" dirty="0"/>
              <a:t>~16.67%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in Germany are </a:t>
            </a:r>
            <a:r>
              <a:rPr lang="en-US" b="1" dirty="0"/>
              <a:t>churning at nearly double the rate</a:t>
            </a:r>
            <a:r>
              <a:rPr lang="en-US" dirty="0"/>
              <a:t> compared to France and Spain.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D25178-7F40-4CFE-AF07-F49BB2D54B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3516" y="1859340"/>
            <a:ext cx="5981564" cy="365760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B2D341-B1DB-4478-9CBD-BEE422569C41}"/>
              </a:ext>
            </a:extLst>
          </p:cNvPr>
          <p:cNvSpPr/>
          <p:nvPr/>
        </p:nvSpPr>
        <p:spPr>
          <a:xfrm>
            <a:off x="435200" y="3982998"/>
            <a:ext cx="6261022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Business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Germany shows a significantly higher churn rate, indicating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region-specific retention issues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France and Spain have relatively stable churn levels, suggesting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customer retention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bank should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prioritize Germany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targeted churn-reduction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31769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>
            <a:spLocks noGrp="1"/>
          </p:cNvSpPr>
          <p:nvPr>
            <p:ph type="ctrTitle"/>
          </p:nvPr>
        </p:nvSpPr>
        <p:spPr>
          <a:xfrm>
            <a:off x="0" y="79389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Solution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Fireblaze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Technologies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Pvt.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Ltd.</a:t>
            </a: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15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15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3361D-E945-4254-9E19-7E2FDA1349E9}"/>
              </a:ext>
            </a:extLst>
          </p:cNvPr>
          <p:cNvSpPr/>
          <p:nvPr/>
        </p:nvSpPr>
        <p:spPr>
          <a:xfrm>
            <a:off x="217600" y="1248833"/>
            <a:ext cx="702726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/>
              <a:t>Insight 4: Churn Rate by Age Group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671EB-1E76-4FB7-B1E7-BF48508CFD15}"/>
              </a:ext>
            </a:extLst>
          </p:cNvPr>
          <p:cNvSpPr/>
          <p:nvPr/>
        </p:nvSpPr>
        <p:spPr>
          <a:xfrm>
            <a:off x="435202" y="1859340"/>
            <a:ext cx="5405053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Key Findings </a:t>
            </a:r>
          </a:p>
          <a:p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Customers aged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18–30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lowest churn rate (~7.5%)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Churn increases significantly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41–50 (≈34%)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peaks 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51–60 (≈56%)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60+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also show relatively high churn (~25%).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2D341-B1DB-4478-9CBD-BEE422569C41}"/>
              </a:ext>
            </a:extLst>
          </p:cNvPr>
          <p:cNvSpPr/>
          <p:nvPr/>
        </p:nvSpPr>
        <p:spPr>
          <a:xfrm>
            <a:off x="371890" y="4259997"/>
            <a:ext cx="548261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Business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Churn risk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increases with customer 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especially after 40.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Middle-aged and senior customers may require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targeted retention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such as personalized services or relationship management.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EEA25D-65F3-47EF-95D5-92FC26810B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1145" y="1710983"/>
            <a:ext cx="6550855" cy="408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89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>
            <a:spLocks noGrp="1"/>
          </p:cNvSpPr>
          <p:nvPr>
            <p:ph type="ctrTitle"/>
          </p:nvPr>
        </p:nvSpPr>
        <p:spPr>
          <a:xfrm>
            <a:off x="0" y="79389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Solution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Fireblaze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Technologies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Pvt.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Ltd.</a:t>
            </a: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15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15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3361D-E945-4254-9E19-7E2FDA1349E9}"/>
              </a:ext>
            </a:extLst>
          </p:cNvPr>
          <p:cNvSpPr/>
          <p:nvPr/>
        </p:nvSpPr>
        <p:spPr>
          <a:xfrm>
            <a:off x="217600" y="1248833"/>
            <a:ext cx="702726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/>
              <a:t>Insight 5: Churn by Active Membership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671EB-1E76-4FB7-B1E7-BF48508CFD15}"/>
              </a:ext>
            </a:extLst>
          </p:cNvPr>
          <p:cNvSpPr/>
          <p:nvPr/>
        </p:nvSpPr>
        <p:spPr>
          <a:xfrm>
            <a:off x="435202" y="1859340"/>
            <a:ext cx="5405053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Key Findings </a:t>
            </a:r>
          </a:p>
          <a:p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Customers who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not active members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significantly higher churn rate (~26.9%)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Active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have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lower churn rate (~14.3%)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Inactive customers are almost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2× more likely to churn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compared to active 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2D341-B1DB-4478-9CBD-BEE422569C41}"/>
              </a:ext>
            </a:extLst>
          </p:cNvPr>
          <p:cNvSpPr/>
          <p:nvPr/>
        </p:nvSpPr>
        <p:spPr>
          <a:xfrm>
            <a:off x="371890" y="4259997"/>
            <a:ext cx="584603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Business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engagement directly impacts retention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Improving activity levels (usage, interactions, transactions) 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substantially reduce churn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bank should proactively target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inactive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engagement and retention initiatives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2E7DC4-9DC6-4C7D-833C-DE27E705F7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989" y="1979185"/>
            <a:ext cx="5486411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04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>
            <a:spLocks noGrp="1"/>
          </p:cNvSpPr>
          <p:nvPr>
            <p:ph type="ctrTitle"/>
          </p:nvPr>
        </p:nvSpPr>
        <p:spPr>
          <a:xfrm>
            <a:off x="0" y="79389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Solution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Fireblaze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Technologies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Pvt.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Ltd.</a:t>
            </a: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15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15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3361D-E945-4254-9E19-7E2FDA1349E9}"/>
              </a:ext>
            </a:extLst>
          </p:cNvPr>
          <p:cNvSpPr/>
          <p:nvPr/>
        </p:nvSpPr>
        <p:spPr>
          <a:xfrm>
            <a:off x="217600" y="1248833"/>
            <a:ext cx="794166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/>
              <a:t>Insight 6: Churn Rate by Number of Products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671EB-1E76-4FB7-B1E7-BF48508CFD15}"/>
              </a:ext>
            </a:extLst>
          </p:cNvPr>
          <p:cNvSpPr/>
          <p:nvPr/>
        </p:nvSpPr>
        <p:spPr>
          <a:xfrm>
            <a:off x="313281" y="1846474"/>
            <a:ext cx="6101587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Key Findings 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with </a:t>
            </a:r>
            <a:r>
              <a:rPr lang="en-US" b="1" dirty="0"/>
              <a:t>2 products</a:t>
            </a:r>
            <a:r>
              <a:rPr lang="en-US" dirty="0"/>
              <a:t> show the </a:t>
            </a:r>
            <a:r>
              <a:rPr lang="en-US" b="1" dirty="0"/>
              <a:t>lowest churn (~7.6%)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with </a:t>
            </a:r>
            <a:r>
              <a:rPr lang="en-US" b="1" dirty="0"/>
              <a:t>1 product</a:t>
            </a:r>
            <a:r>
              <a:rPr lang="en-US" dirty="0"/>
              <a:t> have a </a:t>
            </a:r>
            <a:r>
              <a:rPr lang="en-US" b="1" dirty="0"/>
              <a:t>moderate churn (~27.7%)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with </a:t>
            </a:r>
            <a:r>
              <a:rPr lang="en-US" b="1" dirty="0"/>
              <a:t>3 or 4 products show extremely high churn (82%–100%)</a:t>
            </a:r>
            <a:r>
              <a:rPr lang="en-US" dirty="0"/>
              <a:t>, indicating a </a:t>
            </a:r>
            <a:r>
              <a:rPr lang="en-US" b="1" dirty="0"/>
              <a:t>data imbalance</a:t>
            </a:r>
            <a:r>
              <a:rPr lang="en-US" dirty="0"/>
              <a:t> rather than a stable behavioral pattern.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2D341-B1DB-4478-9CBD-BEE422569C41}"/>
              </a:ext>
            </a:extLst>
          </p:cNvPr>
          <p:cNvSpPr/>
          <p:nvPr/>
        </p:nvSpPr>
        <p:spPr>
          <a:xfrm>
            <a:off x="313281" y="4000143"/>
            <a:ext cx="6453279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Business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Customers holding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exactly two products appear most stable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Extremely high churn for 3–4 products likely reflects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very few customers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so this segment should be interpreted cautiously.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bank should focus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cross-selling from 1 → 2 products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which aligns with lower churn.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1254CA-EAC5-4064-B191-AF93B353F1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868" y="1951560"/>
            <a:ext cx="5586326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21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>
            <a:spLocks noGrp="1"/>
          </p:cNvSpPr>
          <p:nvPr>
            <p:ph type="ctrTitle"/>
          </p:nvPr>
        </p:nvSpPr>
        <p:spPr>
          <a:xfrm>
            <a:off x="0" y="79389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Proposed Solution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Fireblaze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Technologies </a:t>
            </a:r>
            <a:r>
              <a:rPr lang="en-GB" sz="1600" dirty="0" err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Pvt.</a:t>
            </a:r>
            <a:r>
              <a:rPr lang="en-GB" sz="16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Ltd.</a:t>
            </a:r>
            <a:endParaRPr sz="1600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15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55" name="Google Shape;355;p15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63361D-E945-4254-9E19-7E2FDA1349E9}"/>
              </a:ext>
            </a:extLst>
          </p:cNvPr>
          <p:cNvSpPr/>
          <p:nvPr/>
        </p:nvSpPr>
        <p:spPr>
          <a:xfrm>
            <a:off x="217600" y="1248833"/>
            <a:ext cx="702726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3200" b="1" dirty="0"/>
              <a:t>Insight 7 – Zero Balance vs Churn</a:t>
            </a:r>
            <a:endParaRPr lang="en-US" sz="32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3671EB-1E76-4FB7-B1E7-BF48508CFD15}"/>
              </a:ext>
            </a:extLst>
          </p:cNvPr>
          <p:cNvSpPr/>
          <p:nvPr/>
        </p:nvSpPr>
        <p:spPr>
          <a:xfrm>
            <a:off x="435202" y="1859340"/>
            <a:ext cx="6077802" cy="184665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Key Findings </a:t>
            </a:r>
          </a:p>
          <a:p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non-zero balance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have a churn rate of ~24%.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with zero balance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show a lower churn rate of ~14%.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B2D341-B1DB-4478-9CBD-BEE422569C41}"/>
              </a:ext>
            </a:extLst>
          </p:cNvPr>
          <p:cNvSpPr/>
          <p:nvPr/>
        </p:nvSpPr>
        <p:spPr>
          <a:xfrm>
            <a:off x="435200" y="3962564"/>
            <a:ext cx="5846030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Business 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Customers maintaining balances are more likely to churn, possibly due to better access to competing banking options.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Balance size alone does not guarantee customer retention.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CE5B0B7-A99B-4D6C-ADC0-A9A4B5FA6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074" y="1120544"/>
            <a:ext cx="5280256" cy="528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07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Conclusion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741319-BE72-41FC-8BB5-41302624A957}"/>
              </a:ext>
            </a:extLst>
          </p:cNvPr>
          <p:cNvSpPr/>
          <p:nvPr/>
        </p:nvSpPr>
        <p:spPr>
          <a:xfrm>
            <a:off x="217600" y="1237009"/>
            <a:ext cx="11782142" cy="32316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Key Takeaways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bank has an overall churn rate of </a:t>
            </a:r>
            <a:r>
              <a:rPr lang="en-US" b="1" dirty="0"/>
              <a:t>~20%</a:t>
            </a:r>
            <a:r>
              <a:rPr lang="en-US" dirty="0"/>
              <a:t>, indicating a significant retention challenge.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Churn is </a:t>
            </a:r>
            <a:r>
              <a:rPr lang="en-US" b="1" dirty="0"/>
              <a:t>not uniform</a:t>
            </a:r>
            <a:r>
              <a:rPr lang="en-US" dirty="0"/>
              <a:t> across customers and varies by: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Geography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Age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Activity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Product usage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Account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Inactive customers</a:t>
            </a:r>
            <a:r>
              <a:rPr lang="en-US" dirty="0"/>
              <a:t>, </a:t>
            </a:r>
            <a:r>
              <a:rPr lang="en-US" b="1" dirty="0"/>
              <a:t>older age groups</a:t>
            </a:r>
            <a:r>
              <a:rPr lang="en-US" dirty="0"/>
              <a:t>, and customers in </a:t>
            </a:r>
            <a:r>
              <a:rPr lang="en-US" b="1" dirty="0"/>
              <a:t>Germany</a:t>
            </a:r>
            <a:r>
              <a:rPr lang="en-US" dirty="0"/>
              <a:t> show the highest churn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Customers with </a:t>
            </a:r>
            <a:r>
              <a:rPr lang="en-US" b="1" dirty="0"/>
              <a:t>moderate product adoption (2 products)</a:t>
            </a:r>
            <a:r>
              <a:rPr lang="en-US" dirty="0"/>
              <a:t> are the most stable.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2ECC7D-EDB6-4654-AE08-85A33DFDA9DF}"/>
              </a:ext>
            </a:extLst>
          </p:cNvPr>
          <p:cNvSpPr/>
          <p:nvPr/>
        </p:nvSpPr>
        <p:spPr>
          <a:xfrm>
            <a:off x="217600" y="4735199"/>
            <a:ext cx="11782142" cy="129266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/>
              <a:t>Business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Churn can be reduced by focusing on </a:t>
            </a:r>
            <a:r>
              <a:rPr lang="en-US" b="1" dirty="0"/>
              <a:t>high-risk customer segments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Data-driven insights can help the bank </a:t>
            </a:r>
            <a:r>
              <a:rPr lang="en-US" b="1" dirty="0"/>
              <a:t>design targeted retention strategies</a:t>
            </a:r>
            <a:r>
              <a:rPr lang="en-US" dirty="0"/>
              <a:t> instead of generic campaigns.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Improving customer engagement and personalization can </a:t>
            </a:r>
            <a:r>
              <a:rPr lang="en-US" b="1" dirty="0"/>
              <a:t>directly improve retention and profitability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7402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>
            <a:spLocks noGrp="1"/>
          </p:cNvSpPr>
          <p:nvPr>
            <p:ph type="ctrTitle"/>
          </p:nvPr>
        </p:nvSpPr>
        <p:spPr>
          <a:xfrm>
            <a:off x="0" y="-5670"/>
            <a:ext cx="12192000" cy="990211"/>
          </a:xfrm>
          <a:prstGeom prst="rect">
            <a:avLst/>
          </a:prstGeom>
          <a:solidFill>
            <a:srgbClr val="FF6A0E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599985" algn="l">
              <a:lnSpc>
                <a:spcPct val="150000"/>
              </a:lnSpc>
              <a:spcBef>
                <a:spcPts val="0"/>
              </a:spcBef>
              <a:spcAft>
                <a:spcPts val="2133"/>
              </a:spcAft>
            </a:pPr>
            <a:r>
              <a:rPr lang="en-GB" sz="40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Future Scope</a:t>
            </a:r>
            <a:endParaRPr sz="4000" b="1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-13400" y="6400800"/>
            <a:ext cx="12218800" cy="360800"/>
          </a:xfrm>
          <a:prstGeom prst="rect">
            <a:avLst/>
          </a:prstGeom>
          <a:solidFill>
            <a:srgbClr val="FF6A0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R="243834" algn="r"/>
            <a:r>
              <a:rPr lang="en-GB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All rights reserved by Fireblaze Technologies Pvt. Ltd.</a:t>
            </a:r>
            <a:endParaRPr sz="1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19"/>
          <p:cNvSpPr/>
          <p:nvPr/>
        </p:nvSpPr>
        <p:spPr>
          <a:xfrm rot="10800000">
            <a:off x="11516800" y="130333"/>
            <a:ext cx="675200" cy="7552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395" name="Google Shape;395;p19"/>
          <p:cNvSpPr/>
          <p:nvPr/>
        </p:nvSpPr>
        <p:spPr>
          <a:xfrm>
            <a:off x="0" y="6400800"/>
            <a:ext cx="435200" cy="360800"/>
          </a:xfrm>
          <a:prstGeom prst="rtTriangle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D99D00-73C3-4D8D-9254-BF915215CA29}"/>
              </a:ext>
            </a:extLst>
          </p:cNvPr>
          <p:cNvSpPr/>
          <p:nvPr/>
        </p:nvSpPr>
        <p:spPr>
          <a:xfrm>
            <a:off x="0" y="1138534"/>
            <a:ext cx="904504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/>
              <a:t>Future Scope: Predictive Churn Analysis (</a:t>
            </a:r>
            <a:r>
              <a:rPr lang="en-US" sz="2800" b="1" dirty="0">
                <a:solidFill>
                  <a:schemeClr val="accent2"/>
                </a:solidFill>
              </a:rPr>
              <a:t>Machine Learning</a:t>
            </a:r>
            <a:r>
              <a:rPr lang="en-US" sz="2800" b="1" dirty="0"/>
              <a:t>)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BCD7F6-7C09-484E-B1C4-7CC9D0707C09}"/>
              </a:ext>
            </a:extLst>
          </p:cNvPr>
          <p:cNvSpPr/>
          <p:nvPr/>
        </p:nvSpPr>
        <p:spPr>
          <a:xfrm>
            <a:off x="435199" y="1661754"/>
            <a:ext cx="11408457" cy="50167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this project can be extended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same dataset can be used to build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predictive churn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target variable (Exited) makes this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binary classification problem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Proposed ML Approach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 customer attributes such as: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Age, Gender, Geography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Balance, Number of Products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Active Membership status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Apply machine learning models like: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Logistic Regression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Decision Tree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Random Forest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Business Value of Predictive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Identify customers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likely to churn in advance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Enable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proactive retention strategies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Reduce customer acquisition costs and improve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customer lifetime value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20828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D57F63-5769-41C4-A64B-CE7F922CFED6}"/>
              </a:ext>
            </a:extLst>
          </p:cNvPr>
          <p:cNvSpPr/>
          <p:nvPr/>
        </p:nvSpPr>
        <p:spPr>
          <a:xfrm>
            <a:off x="2767082" y="1613118"/>
            <a:ext cx="6657836" cy="36317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1500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66912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1172</Words>
  <Application>Microsoft Office PowerPoint</Application>
  <PresentationFormat>Widescreen</PresentationFormat>
  <Paragraphs>154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Arial Unicode MS</vt:lpstr>
      <vt:lpstr>Calibri</vt:lpstr>
      <vt:lpstr>Calibri Light</vt:lpstr>
      <vt:lpstr>Roboto</vt:lpstr>
      <vt:lpstr>Office Theme</vt:lpstr>
      <vt:lpstr>PowerPoint Presentation</vt:lpstr>
      <vt:lpstr>Problem Statement</vt:lpstr>
      <vt:lpstr>About the Data</vt:lpstr>
      <vt:lpstr>Proposed Solution</vt:lpstr>
      <vt:lpstr>Proposed Solution</vt:lpstr>
      <vt:lpstr>Proposed Solution</vt:lpstr>
      <vt:lpstr>Proposed Solution</vt:lpstr>
      <vt:lpstr>Proposed Solution</vt:lpstr>
      <vt:lpstr>Proposed Solution</vt:lpstr>
      <vt:lpstr>Proposed Solution</vt:lpstr>
      <vt:lpstr>Conclusion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Zebion</dc:creator>
  <cp:lastModifiedBy>Enos Mohod</cp:lastModifiedBy>
  <cp:revision>14</cp:revision>
  <dcterms:created xsi:type="dcterms:W3CDTF">2022-08-27T05:41:13Z</dcterms:created>
  <dcterms:modified xsi:type="dcterms:W3CDTF">2026-01-30T13:59:01Z</dcterms:modified>
</cp:coreProperties>
</file>